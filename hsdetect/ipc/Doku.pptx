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2" r:id="rId5"/>
    <p:sldId id="271" r:id="rId6"/>
    <p:sldId id="274" r:id="rId7"/>
    <p:sldId id="276" r:id="rId8"/>
    <p:sldId id="277" r:id="rId9"/>
    <p:sldId id="278" r:id="rId10"/>
    <p:sldId id="264" r:id="rId1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408" autoAdjust="0"/>
  </p:normalViewPr>
  <p:slideViewPr>
    <p:cSldViewPr snapToGrid="0" showGuides="1">
      <p:cViewPr varScale="1">
        <p:scale>
          <a:sx n="101" d="100"/>
          <a:sy n="101" d="100"/>
        </p:scale>
        <p:origin x="138" y="342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87" d="100"/>
          <a:sy n="87" d="100"/>
        </p:scale>
        <p:origin x="296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ED16C6-DC6D-473A-B4BE-63D00E72A359}" type="datetime1">
              <a:rPr lang="de-DE" smtClean="0"/>
              <a:t>15.03.2023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27E7B-5741-4ED5-9CBC-3CC0E95D8C87}" type="datetime1">
              <a:rPr lang="de-DE" smtClean="0"/>
              <a:pPr/>
              <a:t>15.03.2023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2066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-27177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 title="Titel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Untertitel 2" title="Untertitel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UNTERTITEL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42" y="5460363"/>
            <a:ext cx="10813958" cy="9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winkliges Dreieck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Parallelogram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el 1" title="Titel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101" name="Textplatzhalter 2" title="Untertitel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TEXTMASTERFORMATE BEARBEITEN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42" y="5460363"/>
            <a:ext cx="10813958" cy="9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 title="Aufzählungszeichen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 title="Untertitel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de-DE" noProof="0" dirty="0"/>
              <a:t>UNTERTITELFORMAT DURCH KLICKEN BEARBEITEN</a:t>
            </a:r>
          </a:p>
        </p:txBody>
      </p:sp>
      <p:sp>
        <p:nvSpPr>
          <p:cNvPr id="2" name="Titel 1" title="Titel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Zum Bearbeiten klicken </a:t>
            </a:r>
            <a:br>
              <a:rPr lang="de-DE" noProof="0" dirty="0"/>
            </a:br>
            <a:r>
              <a:rPr lang="de-DE" noProof="0" dirty="0"/>
              <a:t>Titelmasterformat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 smtClean="0"/>
              <a:t>Bild durch Klicken auf Symbol hinzufügen</a:t>
            </a:r>
            <a:endParaRPr lang="de-DE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winkliges Dreieck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 smtClean="0"/>
              <a:t>Bild durch Klicken auf Symbol hinzufügen</a:t>
            </a:r>
            <a:endParaRPr lang="de-DE" noProof="0" dirty="0"/>
          </a:p>
        </p:txBody>
      </p:sp>
      <p:sp>
        <p:nvSpPr>
          <p:cNvPr id="3" name="Inhaltsplatzhalter 2" title="Aufzählungszeichen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 title="Untertitel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de-DE" noProof="0" dirty="0"/>
              <a:t>UNTERTITELFORMAT DURCH KLICKEN BEARBEITEN</a:t>
            </a:r>
          </a:p>
        </p:txBody>
      </p:sp>
      <p:sp>
        <p:nvSpPr>
          <p:cNvPr id="19" name="Titel 1" title="Titel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Zum Bearbeiten klicken </a:t>
            </a:r>
            <a:br>
              <a:rPr lang="de-DE" noProof="0" dirty="0"/>
            </a:br>
            <a:r>
              <a:rPr lang="de-DE" noProof="0" dirty="0"/>
              <a:t>Titelmasterformat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456" y="0"/>
            <a:ext cx="1698541" cy="6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er Streifen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18" name="Inhaltsplatzhalter 3" title="Aufzählungszeichen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de-DE" noProof="0" smtClean="0"/>
              <a:t>Formatvorlagen des Textmasters bearbeiten</a:t>
            </a:r>
          </a:p>
          <a:p>
            <a:pPr lvl="1" rtl="0">
              <a:buClr>
                <a:schemeClr val="accent2"/>
              </a:buClr>
            </a:pPr>
            <a:r>
              <a:rPr lang="de-DE" noProof="0" smtClean="0"/>
              <a:t>Zweite Ebene</a:t>
            </a:r>
          </a:p>
          <a:p>
            <a:pPr lvl="2" rtl="0">
              <a:buClr>
                <a:schemeClr val="accent2"/>
              </a:buClr>
            </a:pPr>
            <a:r>
              <a:rPr lang="de-DE" noProof="0" smtClean="0"/>
              <a:t>Dritte Ebene</a:t>
            </a:r>
          </a:p>
          <a:p>
            <a:pPr lvl="3" rtl="0">
              <a:buClr>
                <a:schemeClr val="accent2"/>
              </a:buClr>
            </a:pPr>
            <a:r>
              <a:rPr lang="de-DE" noProof="0" smtClean="0"/>
              <a:t>Vierte Ebene</a:t>
            </a:r>
          </a:p>
          <a:p>
            <a:pPr lvl="4" rtl="0">
              <a:buClr>
                <a:schemeClr val="accent2"/>
              </a:buClr>
            </a:pPr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20" name="Inhaltsplatzhalter 5" title="Aufzählungszeichen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de-DE" noProof="0" smtClean="0"/>
              <a:t>Formatvorlagen des Textmasters bearbeiten</a:t>
            </a:r>
          </a:p>
          <a:p>
            <a:pPr lvl="1" rtl="0">
              <a:buClr>
                <a:schemeClr val="accent2"/>
              </a:buClr>
            </a:pPr>
            <a:r>
              <a:rPr lang="de-DE" noProof="0" smtClean="0"/>
              <a:t>Zweite Ebene</a:t>
            </a:r>
          </a:p>
          <a:p>
            <a:pPr lvl="2" rtl="0">
              <a:buClr>
                <a:schemeClr val="accent2"/>
              </a:buClr>
            </a:pPr>
            <a:r>
              <a:rPr lang="de-DE" noProof="0" smtClean="0"/>
              <a:t>Dritte Ebene</a:t>
            </a:r>
          </a:p>
          <a:p>
            <a:pPr lvl="3" rtl="0">
              <a:buClr>
                <a:schemeClr val="accent2"/>
              </a:buClr>
            </a:pPr>
            <a:r>
              <a:rPr lang="de-DE" noProof="0" smtClean="0"/>
              <a:t>Vierte Ebene</a:t>
            </a:r>
          </a:p>
          <a:p>
            <a:pPr lvl="4" rtl="0">
              <a:buClr>
                <a:schemeClr val="accent2"/>
              </a:buClr>
            </a:pPr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24" name="Textplatzhalter 4" title="Untertitel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900498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de-DE" noProof="0" dirty="0"/>
              <a:t>UNTERTITELFORMAT DURCH KLICKEN BEARBEITEN</a:t>
            </a:r>
          </a:p>
        </p:txBody>
      </p: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27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456" y="0"/>
            <a:ext cx="1698541" cy="6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er Streifen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3" name="Parallelogram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 dirty="0"/>
              <a:t>Hier Text einfügen</a:t>
            </a:r>
          </a:p>
        </p:txBody>
      </p:sp>
      <p:sp>
        <p:nvSpPr>
          <p:cNvPr id="20" name="Diagrammplatzhalter 2" title="Diagramm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de-DE" noProof="0" smtClean="0"/>
              <a:t>Diagramm durch Klicken auf Symbol hinzufügen</a:t>
            </a:r>
            <a:endParaRPr lang="de-DE" noProof="0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456" y="0"/>
            <a:ext cx="1698541" cy="606751"/>
          </a:xfrm>
          <a:prstGeom prst="rect">
            <a:avLst/>
          </a:prstGeom>
        </p:spPr>
      </p:pic>
      <p:sp>
        <p:nvSpPr>
          <p:cNvPr id="14" name="Textplatzhalter 4" title="Untertitel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900498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de-DE" noProof="0" dirty="0"/>
              <a:t>UNTERTITELFORMAT DURCH KLICKEN BEARBEITEN</a:t>
            </a:r>
          </a:p>
        </p:txBody>
      </p:sp>
      <p:sp>
        <p:nvSpPr>
          <p:cNvPr id="16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ellenplatzhalter 11" title="Tabel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de-DE" noProof="0" smtClean="0"/>
              <a:t>Tabelle durch Klicken auf Symbol hinzufügen</a:t>
            </a:r>
            <a:endParaRPr lang="de-DE" noProof="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er Streifen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  <p:sp>
        <p:nvSpPr>
          <p:cNvPr id="14" name="Textplatzhalter 4" title="Untertitel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900498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de-DE" noProof="0" dirty="0"/>
              <a:t>UNTERTITELFORMAT DURCH KLICKEN BEARBEITEN</a:t>
            </a:r>
          </a:p>
        </p:txBody>
      </p:sp>
      <p:sp>
        <p:nvSpPr>
          <p:cNvPr id="16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s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5" name="Bildplatzhalter 31" title="Bild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de-DE" noProof="0" dirty="0"/>
              <a:t>Hier Bild einfügen oder ablegen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 title="Titel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 dirty="0"/>
              <a:t>Hier Beschriftung einfügen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Telefonnummer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E-Mail </a:t>
            </a:r>
          </a:p>
        </p:txBody>
      </p:sp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Firmenwebsite</a:t>
            </a:r>
          </a:p>
        </p:txBody>
      </p:sp>
      <p:sp>
        <p:nvSpPr>
          <p:cNvPr id="14" name="Form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de-DE" noProof="0" dirty="0"/>
          </a:p>
        </p:txBody>
      </p:sp>
      <p:sp>
        <p:nvSpPr>
          <p:cNvPr id="15" name="Form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de-DE" noProof="0" dirty="0"/>
          </a:p>
        </p:txBody>
      </p:sp>
      <p:sp>
        <p:nvSpPr>
          <p:cNvPr id="19" name="Form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de-DE" noProof="0" dirty="0"/>
          </a:p>
        </p:txBody>
      </p:sp>
      <p:sp>
        <p:nvSpPr>
          <p:cNvPr id="20" name="Form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de-DE" noProof="0" dirty="0"/>
          </a:p>
        </p:txBody>
      </p:sp>
      <p:sp>
        <p:nvSpPr>
          <p:cNvPr id="21" name="Rechtwinkliges Dreieck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 title="Titel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 title="Titel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Untertitel 2" title="Untertitel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FORMATVORLAGE DES UNTERTITELMASTERS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winkliges Dreieck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Parallelogram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el 1" title="Titel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101" name="Textplatzhalter 2" title="Untertitel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TEXTMASTERFORMATE BEARBEITEN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noProof="0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er Streifen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963888"/>
            <a:ext cx="10835122" cy="5213076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  <p:sp>
        <p:nvSpPr>
          <p:cNvPr id="15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er Streifen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963888"/>
            <a:ext cx="5181600" cy="5213076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3888"/>
            <a:ext cx="5181600" cy="5213076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  <p:sp>
        <p:nvSpPr>
          <p:cNvPr id="17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er Streifen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995028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95028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21" name="Inhaltsplatzhalt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36046"/>
            <a:ext cx="5183188" cy="4353617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24" name="Inhaltsplatzhalt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1836046"/>
            <a:ext cx="5391749" cy="4353617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  <p:sp>
        <p:nvSpPr>
          <p:cNvPr id="16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 title="Titel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 title="Titel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 smtClean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er Streifen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0" name="Parallelogram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er Streifen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</p:grpSp>
      <p:sp>
        <p:nvSpPr>
          <p:cNvPr id="31" name="Parallelogram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de-DE" noProof="0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de-DE" noProof="0" smtClean="0"/>
              <a:t>‹Nr.›</a:t>
            </a:fld>
            <a:endParaRPr lang="de-DE" noProof="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94" y="160333"/>
            <a:ext cx="2123004" cy="758377"/>
          </a:xfrm>
          <a:prstGeom prst="rect">
            <a:avLst/>
          </a:prstGeom>
        </p:spPr>
      </p:pic>
      <p:sp>
        <p:nvSpPr>
          <p:cNvPr id="12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 title="Titel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3" y="228963"/>
            <a:ext cx="8333222" cy="648227"/>
          </a:xfrm>
          <a:prstGeom prst="rect">
            <a:avLst/>
          </a:prstGeom>
        </p:spPr>
        <p:txBody>
          <a:bodyPr bIns="0" rtlCol="0" anchor="t" anchorCtr="0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 smtClean="0"/>
              <a:t>Titel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705371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Dokumentation</a:t>
            </a:r>
            <a:endParaRPr lang="de-DE" dirty="0"/>
          </a:p>
        </p:txBody>
      </p:sp>
      <p:sp>
        <p:nvSpPr>
          <p:cNvPr id="8" name="Untertitel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Python </a:t>
            </a:r>
            <a:r>
              <a:rPr lang="de-DE" dirty="0" err="1" smtClean="0"/>
              <a:t>interprocess</a:t>
            </a:r>
            <a:r>
              <a:rPr lang="de-DE" dirty="0" smtClean="0"/>
              <a:t> </a:t>
            </a:r>
            <a:r>
              <a:rPr lang="de-DE" dirty="0" err="1" smtClean="0"/>
              <a:t>communication</a:t>
            </a:r>
            <a:r>
              <a:rPr lang="de-DE" dirty="0" smtClean="0"/>
              <a:t> (</a:t>
            </a:r>
            <a:r>
              <a:rPr lang="de-DE" dirty="0" err="1" smtClean="0"/>
              <a:t>ipc</a:t>
            </a:r>
            <a:r>
              <a:rPr lang="de-DE" dirty="0" smtClean="0"/>
              <a:t>) Modul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879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82223"/>
          </a:xfrm>
        </p:spPr>
        <p:txBody>
          <a:bodyPr/>
          <a:lstStyle/>
          <a:p>
            <a:r>
              <a:rPr lang="de-DE" dirty="0" smtClean="0"/>
              <a:t>Klassen - Übersicht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idx="1"/>
          </p:nvPr>
        </p:nvSpPr>
        <p:spPr>
          <a:xfrm>
            <a:off x="518678" y="1519524"/>
            <a:ext cx="10835122" cy="5005101"/>
          </a:xfrm>
        </p:spPr>
        <p:txBody>
          <a:bodyPr/>
          <a:lstStyle/>
          <a:p>
            <a:r>
              <a:rPr lang="de-DE" sz="2000" b="1" dirty="0" err="1" smtClean="0"/>
              <a:t>PipeServer</a:t>
            </a:r>
            <a:r>
              <a:rPr lang="de-DE" sz="2000" b="1" dirty="0" smtClean="0"/>
              <a:t>: </a:t>
            </a:r>
            <a:r>
              <a:rPr lang="de-DE" sz="2000" dirty="0" smtClean="0"/>
              <a:t>Stellt eine Verbindung </a:t>
            </a:r>
            <a:r>
              <a:rPr lang="de-DE" sz="2000" dirty="0"/>
              <a:t>zur </a:t>
            </a:r>
            <a:r>
              <a:rPr lang="de-DE" sz="2000" dirty="0" err="1"/>
              <a:t>NamedPipe</a:t>
            </a:r>
            <a:r>
              <a:rPr lang="de-DE" sz="2000" dirty="0"/>
              <a:t> '\\.\</a:t>
            </a:r>
            <a:r>
              <a:rPr lang="de-DE" sz="2000" dirty="0" err="1" smtClean="0"/>
              <a:t>pipe</a:t>
            </a:r>
            <a:r>
              <a:rPr lang="de-DE" sz="2000" dirty="0" smtClean="0"/>
              <a:t>\</a:t>
            </a:r>
            <a:r>
              <a:rPr lang="de-DE" sz="2000" dirty="0" err="1" smtClean="0"/>
              <a:t>VisualConPipe</a:t>
            </a:r>
            <a:r>
              <a:rPr lang="de-DE" sz="2000" dirty="0" smtClean="0"/>
              <a:t>' her und schreibt aus der Pipe ausgelesene Daten in das Attribut </a:t>
            </a:r>
            <a:r>
              <a:rPr lang="de-DE" sz="2000" dirty="0" err="1" smtClean="0"/>
              <a:t>self.data</a:t>
            </a:r>
            <a:r>
              <a:rPr lang="de-DE" sz="2000" dirty="0" smtClean="0"/>
              <a:t>. Nach </a:t>
            </a:r>
            <a:r>
              <a:rPr lang="de-DE" sz="2000" dirty="0"/>
              <a:t>dem Auslesen wird das </a:t>
            </a:r>
            <a:r>
              <a:rPr lang="de-DE" sz="2000" dirty="0" err="1" smtClean="0"/>
              <a:t>threading.Event</a:t>
            </a:r>
            <a:r>
              <a:rPr lang="de-DE" sz="2000" dirty="0" smtClean="0"/>
              <a:t> </a:t>
            </a:r>
            <a:r>
              <a:rPr lang="de-DE" sz="2000" dirty="0" err="1" smtClean="0"/>
              <a:t>data_available</a:t>
            </a:r>
            <a:r>
              <a:rPr lang="de-DE" sz="2000" dirty="0" smtClean="0"/>
              <a:t> ausgelöst.</a:t>
            </a:r>
          </a:p>
          <a:p>
            <a:r>
              <a:rPr lang="de-DE" sz="2000" b="1" dirty="0" err="1" smtClean="0"/>
              <a:t>PostProcessor</a:t>
            </a:r>
            <a:r>
              <a:rPr lang="de-DE" sz="2000" b="1" dirty="0" smtClean="0"/>
              <a:t>: </a:t>
            </a:r>
            <a:r>
              <a:rPr lang="de-DE" sz="2000" dirty="0" smtClean="0"/>
              <a:t>Sobald </a:t>
            </a:r>
            <a:r>
              <a:rPr lang="de-DE" sz="2000" dirty="0" err="1" smtClean="0"/>
              <a:t>PipeServer</a:t>
            </a:r>
            <a:r>
              <a:rPr lang="de-DE" sz="2000" dirty="0" smtClean="0"/>
              <a:t> neue Daten bereitstellt (d.h. </a:t>
            </a:r>
            <a:r>
              <a:rPr lang="de-DE" sz="2000" dirty="0" err="1" smtClean="0"/>
              <a:t>data_available</a:t>
            </a:r>
            <a:r>
              <a:rPr lang="de-DE" sz="2000" dirty="0" smtClean="0"/>
              <a:t>=True), führt </a:t>
            </a:r>
            <a:r>
              <a:rPr lang="de-DE" sz="2000" dirty="0" err="1" smtClean="0"/>
              <a:t>PostProcessor</a:t>
            </a:r>
            <a:r>
              <a:rPr lang="de-DE" sz="2000" dirty="0" smtClean="0"/>
              <a:t> die in der Methode </a:t>
            </a:r>
            <a:r>
              <a:rPr lang="de-DE" sz="2000" dirty="0" err="1" smtClean="0"/>
              <a:t>self</a:t>
            </a:r>
            <a:r>
              <a:rPr lang="de-DE" sz="2000" dirty="0" smtClean="0"/>
              <a:t>._</a:t>
            </a:r>
            <a:r>
              <a:rPr lang="de-DE" sz="2000" dirty="0" err="1" smtClean="0"/>
              <a:t>postprocessing</a:t>
            </a:r>
            <a:r>
              <a:rPr lang="de-DE" sz="2000" dirty="0" smtClean="0"/>
              <a:t>() Operationen auf </a:t>
            </a:r>
            <a:r>
              <a:rPr lang="de-DE" sz="2000" dirty="0" err="1" smtClean="0"/>
              <a:t>PipeServer.data</a:t>
            </a:r>
            <a:r>
              <a:rPr lang="de-DE" sz="2000" dirty="0" smtClean="0"/>
              <a:t> aus</a:t>
            </a:r>
          </a:p>
          <a:p>
            <a:r>
              <a:rPr lang="de-DE" sz="2000" b="1" dirty="0" smtClean="0"/>
              <a:t>Plotter: </a:t>
            </a:r>
            <a:r>
              <a:rPr lang="de-DE" sz="2000" dirty="0" smtClean="0"/>
              <a:t>Wurde geschrieben um wie </a:t>
            </a:r>
            <a:r>
              <a:rPr lang="de-DE" sz="2000" dirty="0" err="1" smtClean="0"/>
              <a:t>PipeServer</a:t>
            </a:r>
            <a:r>
              <a:rPr lang="de-DE" sz="2000" dirty="0" smtClean="0"/>
              <a:t> und </a:t>
            </a:r>
            <a:r>
              <a:rPr lang="de-DE" sz="2000" dirty="0" err="1" smtClean="0"/>
              <a:t>PostProcessor</a:t>
            </a:r>
            <a:r>
              <a:rPr lang="de-DE" sz="2000" dirty="0" smtClean="0"/>
              <a:t> in einem </a:t>
            </a:r>
            <a:r>
              <a:rPr lang="de-DE" sz="2000" dirty="0" err="1" smtClean="0"/>
              <a:t>seperaten</a:t>
            </a:r>
            <a:r>
              <a:rPr lang="de-DE" sz="2000" dirty="0" smtClean="0"/>
              <a:t> Thread zu laufen, das lässt </a:t>
            </a:r>
            <a:r>
              <a:rPr lang="de-DE" sz="2000" dirty="0" err="1" smtClean="0"/>
              <a:t>Pyplot</a:t>
            </a:r>
            <a:r>
              <a:rPr lang="de-DE" sz="2000" dirty="0" smtClean="0"/>
              <a:t> aber nicht zu. </a:t>
            </a:r>
          </a:p>
          <a:p>
            <a:r>
              <a:rPr lang="de-DE" sz="2000" b="1" dirty="0" err="1" smtClean="0"/>
              <a:t>TimedThread</a:t>
            </a:r>
            <a:r>
              <a:rPr lang="de-DE" sz="2000" b="1" dirty="0" smtClean="0"/>
              <a:t>: </a:t>
            </a:r>
            <a:r>
              <a:rPr lang="de-DE" sz="2000" dirty="0" smtClean="0"/>
              <a:t>Ein Thread dessen </a:t>
            </a:r>
            <a:r>
              <a:rPr lang="de-DE" sz="2000" dirty="0" err="1" smtClean="0"/>
              <a:t>target</a:t>
            </a:r>
            <a:r>
              <a:rPr lang="de-DE" sz="2000" dirty="0" smtClean="0"/>
              <a:t>-Funktion alle </a:t>
            </a:r>
            <a:r>
              <a:rPr lang="de-DE" sz="2000" dirty="0" err="1" smtClean="0"/>
              <a:t>self</a:t>
            </a:r>
            <a:r>
              <a:rPr lang="de-DE" sz="2000" dirty="0" smtClean="0"/>
              <a:t>._</a:t>
            </a:r>
            <a:r>
              <a:rPr lang="de-DE" sz="2000" dirty="0" err="1" smtClean="0"/>
              <a:t>dt</a:t>
            </a:r>
            <a:r>
              <a:rPr lang="de-DE" sz="2000" dirty="0" smtClean="0"/>
              <a:t> Sekunden ausgeführt wird.</a:t>
            </a:r>
          </a:p>
          <a:p>
            <a:r>
              <a:rPr lang="de-DE" sz="2000" b="1" dirty="0" err="1" smtClean="0"/>
              <a:t>EventControlledThread</a:t>
            </a:r>
            <a:r>
              <a:rPr lang="de-DE" sz="2000" b="1" dirty="0" smtClean="0"/>
              <a:t>: </a:t>
            </a:r>
            <a:r>
              <a:rPr lang="de-DE" sz="2000" dirty="0" smtClean="0"/>
              <a:t>Ein Thread, dessen </a:t>
            </a:r>
            <a:r>
              <a:rPr lang="de-DE" sz="2000" dirty="0" err="1" smtClean="0"/>
              <a:t>target</a:t>
            </a:r>
            <a:r>
              <a:rPr lang="de-DE" sz="2000" dirty="0" smtClean="0"/>
              <a:t>-Funktion jedes mal ausgeführt wird, sobald das </a:t>
            </a:r>
            <a:r>
              <a:rPr lang="de-DE" sz="2000" dirty="0" err="1" smtClean="0"/>
              <a:t>threading.Event</a:t>
            </a:r>
            <a:r>
              <a:rPr lang="de-DE" sz="2000" dirty="0" smtClean="0"/>
              <a:t> </a:t>
            </a:r>
            <a:r>
              <a:rPr lang="de-DE" sz="2000" dirty="0" err="1" smtClean="0"/>
              <a:t>self.event</a:t>
            </a:r>
            <a:r>
              <a:rPr lang="de-DE" sz="2000" dirty="0" smtClean="0"/>
              <a:t> </a:t>
            </a:r>
            <a:r>
              <a:rPr lang="de-DE" sz="2000" dirty="0" err="1" smtClean="0"/>
              <a:t>getriggered</a:t>
            </a:r>
            <a:r>
              <a:rPr lang="de-DE" sz="2000" dirty="0" smtClean="0"/>
              <a:t> wurde. Nach Ausführung der </a:t>
            </a:r>
            <a:r>
              <a:rPr lang="de-DE" sz="2000" dirty="0" err="1" smtClean="0"/>
              <a:t>target</a:t>
            </a:r>
            <a:r>
              <a:rPr lang="de-DE" sz="2000" dirty="0" smtClean="0"/>
              <a:t>-Funktion wird </a:t>
            </a:r>
            <a:r>
              <a:rPr lang="de-DE" sz="2000" dirty="0" err="1" smtClean="0"/>
              <a:t>self.event</a:t>
            </a:r>
            <a:r>
              <a:rPr lang="de-DE" sz="2000" dirty="0" smtClean="0"/>
              <a:t> wieder auf </a:t>
            </a:r>
            <a:r>
              <a:rPr lang="de-DE" sz="2000" dirty="0" err="1" smtClean="0"/>
              <a:t>False</a:t>
            </a:r>
            <a:r>
              <a:rPr lang="de-DE" sz="2000" dirty="0" smtClean="0"/>
              <a:t> gesetzt. 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80816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rtl="0"/>
            <a:r>
              <a:rPr lang="de-DE" noProof="0" smtClean="0"/>
              <a:t>Fußzeile hinzufügen</a:t>
            </a:r>
            <a:endParaRPr lang="de-DE" noProof="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de-DE" noProof="0" smtClean="0"/>
              <a:t>3</a:t>
            </a:fld>
            <a:endParaRPr lang="de-DE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18678" y="196769"/>
            <a:ext cx="8333222" cy="708815"/>
          </a:xfrm>
        </p:spPr>
        <p:txBody>
          <a:bodyPr/>
          <a:lstStyle/>
          <a:p>
            <a:r>
              <a:rPr lang="de-DE" dirty="0" err="1" smtClean="0"/>
              <a:t>PipeServer</a:t>
            </a:r>
            <a:r>
              <a:rPr lang="de-DE" dirty="0" smtClean="0"/>
              <a:t>-Klasse</a:t>
            </a:r>
            <a:endParaRPr lang="de-DE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370916"/>
              </p:ext>
            </p:extLst>
          </p:nvPr>
        </p:nvGraphicFramePr>
        <p:xfrm>
          <a:off x="518676" y="1009688"/>
          <a:ext cx="6831247" cy="5828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8948">
                  <a:extLst>
                    <a:ext uri="{9D8B030D-6E8A-4147-A177-3AD203B41FA5}">
                      <a16:colId xmlns:a16="http://schemas.microsoft.com/office/drawing/2014/main" val="3684332184"/>
                    </a:ext>
                  </a:extLst>
                </a:gridCol>
                <a:gridCol w="4972299">
                  <a:extLst>
                    <a:ext uri="{9D8B030D-6E8A-4147-A177-3AD203B41FA5}">
                      <a16:colId xmlns:a16="http://schemas.microsoft.com/office/drawing/2014/main" val="472571116"/>
                    </a:ext>
                  </a:extLst>
                </a:gridCol>
              </a:tblGrid>
              <a:tr h="289367">
                <a:tc>
                  <a:txBody>
                    <a:bodyPr/>
                    <a:lstStyle/>
                    <a:p>
                      <a:r>
                        <a:rPr lang="de-DE" sz="1400" b="1" dirty="0" err="1" smtClean="0"/>
                        <a:t>PipeServer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585609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width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Bildbreite in Pixeln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54011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height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 smtClean="0"/>
                        <a:t>Bildhöhe</a:t>
                      </a:r>
                      <a:r>
                        <a:rPr lang="de-DE" sz="1400" dirty="0" smtClean="0"/>
                        <a:t> in Pixeln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699475"/>
                  </a:ext>
                </a:extLst>
              </a:tr>
              <a:tr h="473832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sampling_rate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Rate in Hz mit der nach neuen Daten in Pipe gesucht werden soll (etwas schneller als Sensortakt)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63172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-pipe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Pipe-Handle, wird bei Initialisierung automatisch generiert. 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315147"/>
                  </a:ext>
                </a:extLst>
              </a:tr>
              <a:tr h="464239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data_available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ThreadingEvent</a:t>
                      </a:r>
                      <a:r>
                        <a:rPr lang="de-DE" sz="1400" dirty="0" smtClean="0"/>
                        <a:t>, wird bei Initialisierung automatisch generiert. Wird</a:t>
                      </a:r>
                      <a:r>
                        <a:rPr lang="de-DE" sz="1400" baseline="0" dirty="0" smtClean="0"/>
                        <a:t> getriggert sobald neue Daten aus der Pipe ausgelesen wurden.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10466"/>
                  </a:ext>
                </a:extLst>
              </a:tr>
              <a:tr h="464239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reading</a:t>
                      </a:r>
                      <a:r>
                        <a:rPr lang="de-DE" sz="1400" baseline="0" dirty="0" err="1" smtClean="0"/>
                        <a:t>_thread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 smtClean="0"/>
                        <a:t>TimedThread</a:t>
                      </a:r>
                      <a:r>
                        <a:rPr lang="de-DE" sz="1400" dirty="0" smtClean="0"/>
                        <a:t>, ließt in</a:t>
                      </a:r>
                      <a:r>
                        <a:rPr lang="de-DE" sz="1400" baseline="0" dirty="0" smtClean="0"/>
                        <a:t> regelmäßigen Abständen Daten aus der Pipe aus. </a:t>
                      </a:r>
                      <a:r>
                        <a:rPr lang="de-DE" sz="1400" dirty="0" smtClean="0"/>
                        <a:t>Wird bei Initialisierung automatisch generiert.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67949"/>
                  </a:ext>
                </a:extLst>
              </a:tr>
              <a:tr h="464239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data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In diese</a:t>
                      </a:r>
                      <a:r>
                        <a:rPr lang="de-DE" sz="1400" baseline="0" dirty="0" smtClean="0"/>
                        <a:t> Variable werden die ausgelesenen Daten geschrieben.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650770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66135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connect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Wartet</a:t>
                      </a:r>
                      <a:r>
                        <a:rPr lang="de-DE" sz="1400" baseline="0" dirty="0" smtClean="0"/>
                        <a:t> bis Client (</a:t>
                      </a:r>
                      <a:r>
                        <a:rPr lang="de-DE" sz="1400" baseline="0" dirty="0" err="1" smtClean="0"/>
                        <a:t>HTPdAGUI</a:t>
                      </a:r>
                      <a:r>
                        <a:rPr lang="de-DE" sz="1400" baseline="0" dirty="0" smtClean="0"/>
                        <a:t>) sich zur Pipe verbunden hat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24435"/>
                  </a:ext>
                </a:extLst>
              </a:tr>
              <a:tr h="1059153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read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Startet </a:t>
                      </a:r>
                      <a:r>
                        <a:rPr lang="de-DE" sz="1400" dirty="0" err="1" smtClean="0"/>
                        <a:t>reading_thread</a:t>
                      </a:r>
                      <a:r>
                        <a:rPr lang="de-DE" sz="1400" dirty="0" smtClean="0"/>
                        <a:t>,</a:t>
                      </a:r>
                      <a:r>
                        <a:rPr lang="de-DE" sz="1400" baseline="0" dirty="0" smtClean="0"/>
                        <a:t> der Daten in der vorgegebenen </a:t>
                      </a:r>
                      <a:r>
                        <a:rPr lang="de-DE" sz="1400" dirty="0" err="1" smtClean="0"/>
                        <a:t>sampling_rate</a:t>
                      </a:r>
                      <a:r>
                        <a:rPr lang="de-DE" sz="1400" dirty="0" smtClean="0"/>
                        <a:t> </a:t>
                      </a:r>
                      <a:r>
                        <a:rPr lang="de-DE" sz="1400" baseline="0" dirty="0" smtClean="0"/>
                        <a:t>aus der Pipe ausliest. Nach jedem erfolgreichen Lesevorgang wird das Event </a:t>
                      </a:r>
                      <a:r>
                        <a:rPr lang="de-DE" sz="1400" dirty="0" err="1" smtClean="0"/>
                        <a:t>data_available</a:t>
                      </a:r>
                      <a:r>
                        <a:rPr lang="de-DE" sz="1400" dirty="0" smtClean="0"/>
                        <a:t> getriggert (</a:t>
                      </a:r>
                      <a:r>
                        <a:rPr lang="de-DE" sz="1400" dirty="0" err="1" smtClean="0"/>
                        <a:t>data_available.set</a:t>
                      </a:r>
                      <a:r>
                        <a:rPr lang="de-DE" sz="1400" dirty="0" smtClean="0"/>
                        <a:t>()). Ausgelesene</a:t>
                      </a:r>
                      <a:r>
                        <a:rPr lang="de-DE" sz="1400" baseline="0" dirty="0" smtClean="0"/>
                        <a:t> Daten werden in </a:t>
                      </a:r>
                      <a:r>
                        <a:rPr lang="de-DE" sz="1400" baseline="0" dirty="0" err="1" smtClean="0"/>
                        <a:t>data</a:t>
                      </a:r>
                      <a:r>
                        <a:rPr lang="de-DE" sz="1400" baseline="0" dirty="0" smtClean="0"/>
                        <a:t> geschrieben.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35960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cancel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Beendet </a:t>
                      </a:r>
                      <a:r>
                        <a:rPr lang="de-DE" sz="1400" dirty="0" err="1" smtClean="0"/>
                        <a:t>reading</a:t>
                      </a:r>
                      <a:r>
                        <a:rPr lang="de-DE" sz="1400" baseline="0" dirty="0" err="1" smtClean="0"/>
                        <a:t>_thread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71420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disconnect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Beendet</a:t>
                      </a:r>
                      <a:r>
                        <a:rPr lang="de-DE" sz="1400" baseline="0" dirty="0" smtClean="0"/>
                        <a:t> Verbindung zur </a:t>
                      </a:r>
                      <a:r>
                        <a:rPr lang="de-DE" sz="1400" baseline="0" dirty="0" err="1" smtClean="0"/>
                        <a:t>NamedPipe</a:t>
                      </a:r>
                      <a:r>
                        <a:rPr lang="de-DE" sz="1400" baseline="0" dirty="0" smtClean="0"/>
                        <a:t> und löscht das Handle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336492"/>
                  </a:ext>
                </a:extLst>
              </a:tr>
            </a:tbl>
          </a:graphicData>
        </a:graphic>
      </p:graphicFrame>
      <p:sp>
        <p:nvSpPr>
          <p:cNvPr id="9" name="Inhaltsplatzhalter 4"/>
          <p:cNvSpPr txBox="1">
            <a:spLocks/>
          </p:cNvSpPr>
          <p:nvPr/>
        </p:nvSpPr>
        <p:spPr>
          <a:xfrm>
            <a:off x="7778186" y="1009687"/>
            <a:ext cx="4109011" cy="571178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smtClean="0"/>
              <a:t>Nutzung: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Erzeuge Instanz von </a:t>
            </a:r>
            <a:r>
              <a:rPr lang="de-DE" dirty="0" err="1" smtClean="0"/>
              <a:t>PipeServer</a:t>
            </a: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Rufe </a:t>
            </a:r>
            <a:r>
              <a:rPr lang="de-DE" dirty="0" err="1" smtClean="0"/>
              <a:t>self.connect</a:t>
            </a:r>
            <a:r>
              <a:rPr lang="de-DE" dirty="0" smtClean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Starte </a:t>
            </a:r>
            <a:r>
              <a:rPr lang="de-DE" dirty="0" err="1"/>
              <a:t>HTPAdGUI</a:t>
            </a: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In </a:t>
            </a:r>
            <a:r>
              <a:rPr lang="de-DE" dirty="0" err="1" smtClean="0"/>
              <a:t>HTPAdGUI</a:t>
            </a:r>
            <a:r>
              <a:rPr lang="de-DE" dirty="0" smtClean="0"/>
              <a:t> wähle Settings -&gt; GUI </a:t>
            </a:r>
            <a:r>
              <a:rPr lang="de-DE" dirty="0" err="1" smtClean="0"/>
              <a:t>setting</a:t>
            </a:r>
            <a:r>
              <a:rPr lang="de-DE" dirty="0" smtClean="0"/>
              <a:t> und wähle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transfer</a:t>
            </a:r>
            <a:r>
              <a:rPr lang="de-DE" dirty="0" smtClean="0"/>
              <a:t> aus, </a:t>
            </a:r>
            <a:r>
              <a:rPr lang="de-DE" dirty="0" err="1" smtClean="0"/>
              <a:t>bmp</a:t>
            </a:r>
            <a:r>
              <a:rPr lang="de-DE" dirty="0" smtClean="0"/>
              <a:t> </a:t>
            </a:r>
            <a:r>
              <a:rPr lang="de-DE" dirty="0" err="1" smtClean="0"/>
              <a:t>transfer</a:t>
            </a:r>
            <a:r>
              <a:rPr lang="de-DE" dirty="0" smtClean="0"/>
              <a:t> ab. 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In </a:t>
            </a:r>
            <a:r>
              <a:rPr lang="de-DE" dirty="0" err="1"/>
              <a:t>HTPAdGUI</a:t>
            </a:r>
            <a:r>
              <a:rPr lang="de-DE" dirty="0"/>
              <a:t> </a:t>
            </a:r>
            <a:r>
              <a:rPr lang="de-DE" dirty="0" smtClean="0"/>
              <a:t>wähle Connections -&gt; </a:t>
            </a:r>
            <a:r>
              <a:rPr lang="de-DE" dirty="0" err="1" smtClean="0"/>
              <a:t>VisualCon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19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rtl="0"/>
            <a:r>
              <a:rPr lang="de-DE" noProof="0" smtClean="0"/>
              <a:t>Fußzeile hinzufügen</a:t>
            </a:r>
            <a:endParaRPr lang="de-DE" noProof="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de-DE" noProof="0" smtClean="0"/>
              <a:t>4</a:t>
            </a:fld>
            <a:endParaRPr lang="de-DE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18678" y="196769"/>
            <a:ext cx="8333222" cy="708815"/>
          </a:xfrm>
        </p:spPr>
        <p:txBody>
          <a:bodyPr/>
          <a:lstStyle/>
          <a:p>
            <a:r>
              <a:rPr lang="de-DE" dirty="0" err="1" smtClean="0"/>
              <a:t>TimedThread</a:t>
            </a:r>
            <a:r>
              <a:rPr lang="de-DE" dirty="0" smtClean="0"/>
              <a:t>-Klasse</a:t>
            </a:r>
            <a:endParaRPr lang="de-DE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60872"/>
              </p:ext>
            </p:extLst>
          </p:nvPr>
        </p:nvGraphicFramePr>
        <p:xfrm>
          <a:off x="518678" y="1009687"/>
          <a:ext cx="6090466" cy="325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363">
                  <a:extLst>
                    <a:ext uri="{9D8B030D-6E8A-4147-A177-3AD203B41FA5}">
                      <a16:colId xmlns:a16="http://schemas.microsoft.com/office/drawing/2014/main" val="3684332184"/>
                    </a:ext>
                  </a:extLst>
                </a:gridCol>
                <a:gridCol w="4433103">
                  <a:extLst>
                    <a:ext uri="{9D8B030D-6E8A-4147-A177-3AD203B41FA5}">
                      <a16:colId xmlns:a16="http://schemas.microsoft.com/office/drawing/2014/main" val="47257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dirty="0" err="1" smtClean="0"/>
                        <a:t>TimedThread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58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-_</a:t>
                      </a:r>
                      <a:r>
                        <a:rPr lang="de-DE" sz="1400" dirty="0" err="1" smtClean="0"/>
                        <a:t>dt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Zeig die zwischen zwei Lesezugriffen</a:t>
                      </a:r>
                      <a:r>
                        <a:rPr lang="de-DE" sz="1400" baseline="0" dirty="0" smtClean="0"/>
                        <a:t> auf Pipe liegen soll in Sekunden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5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-target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Funktion die</a:t>
                      </a:r>
                      <a:r>
                        <a:rPr lang="de-DE" sz="1400" baseline="0" dirty="0" smtClean="0"/>
                        <a:t> von dem Thread ausgeführt werden soll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699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result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Attribut in das Ausgabe von </a:t>
                      </a:r>
                      <a:r>
                        <a:rPr lang="de-DE" sz="1400" dirty="0" err="1" smtClean="0"/>
                        <a:t>target</a:t>
                      </a:r>
                      <a:r>
                        <a:rPr lang="de-DE" sz="1400" dirty="0" smtClean="0"/>
                        <a:t> geschrieben werden kann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4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6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run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Funktion die</a:t>
                      </a:r>
                      <a:r>
                        <a:rPr lang="de-DE" sz="1400" baseline="0" dirty="0" smtClean="0"/>
                        <a:t> ausgeführt wird, wenn </a:t>
                      </a:r>
                      <a:r>
                        <a:rPr lang="de-DE" sz="1400" baseline="0" dirty="0" err="1" smtClean="0"/>
                        <a:t>TimedThread.start</a:t>
                      </a:r>
                      <a:r>
                        <a:rPr lang="de-DE" sz="1400" baseline="0" dirty="0" smtClean="0"/>
                        <a:t>() gerufen wird. </a:t>
                      </a:r>
                      <a:r>
                        <a:rPr lang="de-DE" sz="1400" baseline="0" dirty="0" err="1" smtClean="0"/>
                        <a:t>run</a:t>
                      </a:r>
                      <a:r>
                        <a:rPr lang="de-DE" sz="1400" baseline="0" dirty="0" smtClean="0"/>
                        <a:t>() ruft seinerseits </a:t>
                      </a:r>
                      <a:r>
                        <a:rPr lang="de-DE" sz="1400" baseline="0" dirty="0" err="1" smtClean="0"/>
                        <a:t>target</a:t>
                      </a:r>
                      <a:r>
                        <a:rPr lang="de-DE" sz="1400" baseline="0" dirty="0" smtClean="0"/>
                        <a:t> auf und speichert eventuelle Rückgabewerte in </a:t>
                      </a:r>
                      <a:r>
                        <a:rPr lang="de-DE" sz="1400" baseline="0" dirty="0" err="1" smtClean="0"/>
                        <a:t>self.result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2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cancel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Beendet </a:t>
                      </a:r>
                      <a:r>
                        <a:rPr lang="de-DE" sz="1400" dirty="0" err="1" smtClean="0"/>
                        <a:t>reading</a:t>
                      </a:r>
                      <a:r>
                        <a:rPr lang="de-DE" sz="1400" baseline="0" dirty="0" err="1" smtClean="0"/>
                        <a:t>_thread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71420"/>
                  </a:ext>
                </a:extLst>
              </a:tr>
            </a:tbl>
          </a:graphicData>
        </a:graphic>
      </p:graphicFrame>
      <p:sp>
        <p:nvSpPr>
          <p:cNvPr id="9" name="Inhaltsplatzhalter 4"/>
          <p:cNvSpPr txBox="1">
            <a:spLocks/>
          </p:cNvSpPr>
          <p:nvPr/>
        </p:nvSpPr>
        <p:spPr>
          <a:xfrm>
            <a:off x="6789292" y="1009687"/>
            <a:ext cx="5097906" cy="571178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smtClean="0"/>
              <a:t>Nutzung: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Erzeuge Instanz von </a:t>
            </a:r>
            <a:r>
              <a:rPr lang="de-DE" dirty="0" err="1" smtClean="0"/>
              <a:t>TimedThread</a:t>
            </a:r>
            <a:r>
              <a:rPr lang="de-DE" dirty="0" smtClean="0"/>
              <a:t> und übergebe </a:t>
            </a:r>
            <a:r>
              <a:rPr lang="de-DE" dirty="0" err="1" smtClean="0"/>
              <a:t>dt</a:t>
            </a:r>
            <a:r>
              <a:rPr lang="de-DE" dirty="0" smtClean="0"/>
              <a:t> sowie </a:t>
            </a:r>
            <a:r>
              <a:rPr lang="de-DE" dirty="0" err="1" smtClean="0"/>
              <a:t>target</a:t>
            </a: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Rufe </a:t>
            </a:r>
            <a:r>
              <a:rPr lang="de-DE" dirty="0" err="1" smtClean="0"/>
              <a:t>self.start</a:t>
            </a:r>
            <a:r>
              <a:rPr lang="de-DE" dirty="0" smtClean="0"/>
              <a:t>(), </a:t>
            </a:r>
            <a:r>
              <a:rPr lang="de-DE" dirty="0" err="1" smtClean="0"/>
              <a:t>target</a:t>
            </a:r>
            <a:r>
              <a:rPr lang="de-DE" dirty="0"/>
              <a:t> </a:t>
            </a:r>
            <a:r>
              <a:rPr lang="de-DE" dirty="0" smtClean="0"/>
              <a:t>wird nun in einem separaten Thread alle </a:t>
            </a:r>
            <a:r>
              <a:rPr lang="de-DE" dirty="0" err="1" smtClean="0"/>
              <a:t>dt</a:t>
            </a:r>
            <a:r>
              <a:rPr lang="de-DE" dirty="0" smtClean="0"/>
              <a:t> Sekunden ausgeführt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430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rtl="0"/>
            <a:r>
              <a:rPr lang="de-DE" noProof="0" smtClean="0"/>
              <a:t>Fußzeile hinzufügen</a:t>
            </a:r>
            <a:endParaRPr lang="de-DE" noProof="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de-DE" noProof="0" smtClean="0"/>
              <a:t>5</a:t>
            </a:fld>
            <a:endParaRPr lang="de-DE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18678" y="196769"/>
            <a:ext cx="8333222" cy="708815"/>
          </a:xfrm>
        </p:spPr>
        <p:txBody>
          <a:bodyPr/>
          <a:lstStyle/>
          <a:p>
            <a:r>
              <a:rPr lang="de-DE" dirty="0" err="1" smtClean="0"/>
              <a:t>PostProcessor</a:t>
            </a:r>
            <a:r>
              <a:rPr lang="de-DE" dirty="0" smtClean="0"/>
              <a:t>-Klasse</a:t>
            </a:r>
            <a:endParaRPr lang="de-DE" dirty="0"/>
          </a:p>
        </p:txBody>
      </p:sp>
      <p:sp>
        <p:nvSpPr>
          <p:cNvPr id="9" name="Inhaltsplatzhalter 4"/>
          <p:cNvSpPr txBox="1">
            <a:spLocks/>
          </p:cNvSpPr>
          <p:nvPr/>
        </p:nvSpPr>
        <p:spPr>
          <a:xfrm>
            <a:off x="7349922" y="1009687"/>
            <a:ext cx="4537275" cy="571178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smtClean="0"/>
              <a:t>Nutzung: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Erzeuge Instanz von </a:t>
            </a:r>
            <a:r>
              <a:rPr lang="de-DE" dirty="0" err="1" smtClean="0"/>
              <a:t>TimedThread</a:t>
            </a:r>
            <a:r>
              <a:rPr lang="de-DE" dirty="0" smtClean="0"/>
              <a:t>, übergebe Instanz von </a:t>
            </a:r>
            <a:r>
              <a:rPr lang="de-DE" dirty="0" err="1" smtClean="0"/>
              <a:t>PipeServer</a:t>
            </a:r>
            <a:r>
              <a:rPr lang="de-DE" dirty="0" smtClean="0"/>
              <a:t> und ein Event, das </a:t>
            </a:r>
            <a:r>
              <a:rPr lang="de-DE" dirty="0" err="1" smtClean="0"/>
              <a:t>triggered</a:t>
            </a:r>
            <a:r>
              <a:rPr lang="de-DE" dirty="0" smtClean="0"/>
              <a:t> wann neue Daten verfügbar sind, im Normalfall </a:t>
            </a:r>
            <a:r>
              <a:rPr lang="de-DE" dirty="0" err="1" smtClean="0"/>
              <a:t>PipeServer.data_available</a:t>
            </a: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Rufe </a:t>
            </a:r>
            <a:r>
              <a:rPr lang="de-DE" dirty="0" err="1" smtClean="0"/>
              <a:t>self.postprocessing</a:t>
            </a:r>
            <a:r>
              <a:rPr lang="de-DE" dirty="0" smtClean="0"/>
              <a:t>(). Jedes </a:t>
            </a:r>
            <a:r>
              <a:rPr lang="de-DE" dirty="0"/>
              <a:t>mal wenn </a:t>
            </a:r>
            <a:r>
              <a:rPr lang="de-DE" dirty="0" err="1" smtClean="0"/>
              <a:t>PipeServer.data_available</a:t>
            </a:r>
            <a:r>
              <a:rPr lang="de-DE" dirty="0" smtClean="0"/>
              <a:t> getriggert wird, wird nun </a:t>
            </a:r>
            <a:r>
              <a:rPr lang="de-DE" dirty="0" err="1" smtClean="0"/>
              <a:t>self</a:t>
            </a:r>
            <a:r>
              <a:rPr lang="de-DE" dirty="0" smtClean="0"/>
              <a:t>._</a:t>
            </a:r>
            <a:r>
              <a:rPr lang="de-DE" dirty="0" err="1" smtClean="0"/>
              <a:t>postprocessing</a:t>
            </a:r>
            <a:r>
              <a:rPr lang="de-DE" dirty="0" smtClean="0"/>
              <a:t>() ausgeführt.</a:t>
            </a:r>
            <a:endParaRPr lang="de-DE" dirty="0"/>
          </a:p>
        </p:txBody>
      </p:sp>
      <p:graphicFrame>
        <p:nvGraphicFramePr>
          <p:cNvPr id="10" name="Inhaltsplatzhalt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5070406"/>
              </p:ext>
            </p:extLst>
          </p:nvPr>
        </p:nvGraphicFramePr>
        <p:xfrm>
          <a:off x="518676" y="899794"/>
          <a:ext cx="6520479" cy="55820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5181">
                  <a:extLst>
                    <a:ext uri="{9D8B030D-6E8A-4147-A177-3AD203B41FA5}">
                      <a16:colId xmlns:a16="http://schemas.microsoft.com/office/drawing/2014/main" val="3684332184"/>
                    </a:ext>
                  </a:extLst>
                </a:gridCol>
                <a:gridCol w="4865298">
                  <a:extLst>
                    <a:ext uri="{9D8B030D-6E8A-4147-A177-3AD203B41FA5}">
                      <a16:colId xmlns:a16="http://schemas.microsoft.com/office/drawing/2014/main" val="472571116"/>
                    </a:ext>
                  </a:extLst>
                </a:gridCol>
              </a:tblGrid>
              <a:tr h="284841">
                <a:tc>
                  <a:txBody>
                    <a:bodyPr/>
                    <a:lstStyle/>
                    <a:p>
                      <a:r>
                        <a:rPr lang="de-DE" sz="1400" b="1" dirty="0" err="1" smtClean="0"/>
                        <a:t>PostProcessor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585609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-reader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Irgendeine Klasse, bspw. </a:t>
                      </a:r>
                      <a:r>
                        <a:rPr lang="de-DE" sz="1400" dirty="0" err="1" smtClean="0"/>
                        <a:t>PipeServer</a:t>
                      </a:r>
                      <a:r>
                        <a:rPr lang="de-DE" sz="1400" dirty="0" smtClean="0"/>
                        <a:t> ,welche in einem Attribut </a:t>
                      </a:r>
                      <a:r>
                        <a:rPr lang="de-DE" sz="1400" dirty="0" err="1" smtClean="0"/>
                        <a:t>data</a:t>
                      </a:r>
                      <a:r>
                        <a:rPr lang="de-DE" sz="1400" dirty="0" smtClean="0"/>
                        <a:t> Daten für </a:t>
                      </a:r>
                      <a:r>
                        <a:rPr lang="de-DE" sz="1400" dirty="0" err="1" smtClean="0"/>
                        <a:t>PostProcessor</a:t>
                      </a:r>
                      <a:r>
                        <a:rPr lang="de-DE" sz="1400" baseline="0" dirty="0" smtClean="0"/>
                        <a:t> bereitstellt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54011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-event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 smtClean="0"/>
                        <a:t>ThreadingEvent</a:t>
                      </a:r>
                      <a:r>
                        <a:rPr lang="de-DE" sz="1400" dirty="0" smtClean="0"/>
                        <a:t>, welches </a:t>
                      </a:r>
                      <a:r>
                        <a:rPr lang="de-DE" sz="1400" dirty="0" err="1" smtClean="0"/>
                        <a:t>triggered</a:t>
                      </a:r>
                      <a:r>
                        <a:rPr lang="de-DE" sz="1400" dirty="0" smtClean="0"/>
                        <a:t>,</a:t>
                      </a:r>
                      <a:r>
                        <a:rPr lang="de-DE" sz="1400" baseline="0" dirty="0" smtClean="0"/>
                        <a:t> sobald in </a:t>
                      </a:r>
                      <a:r>
                        <a:rPr lang="de-DE" sz="1400" baseline="0" dirty="0" err="1" smtClean="0"/>
                        <a:t>self.data</a:t>
                      </a:r>
                      <a:r>
                        <a:rPr lang="de-DE" sz="1400" baseline="0" dirty="0" smtClean="0"/>
                        <a:t> neue Daten bereitstehen, </a:t>
                      </a:r>
                      <a:r>
                        <a:rPr lang="de-DE" sz="1400" baseline="0" dirty="0" err="1" smtClean="0"/>
                        <a:t>bpsw</a:t>
                      </a:r>
                      <a:r>
                        <a:rPr lang="de-DE" sz="1400" baseline="0" dirty="0" smtClean="0"/>
                        <a:t>. </a:t>
                      </a:r>
                      <a:r>
                        <a:rPr lang="de-DE" sz="1400" dirty="0" err="1" smtClean="0"/>
                        <a:t>data_available</a:t>
                      </a:r>
                      <a:r>
                        <a:rPr lang="de-DE" sz="1400" dirty="0" smtClean="0"/>
                        <a:t> des</a:t>
                      </a:r>
                      <a:r>
                        <a:rPr lang="de-DE" sz="1400" baseline="0" dirty="0" smtClean="0"/>
                        <a:t> </a:t>
                      </a:r>
                      <a:r>
                        <a:rPr lang="de-DE" sz="1400" baseline="0" dirty="0" err="1" smtClean="0"/>
                        <a:t>PipeServers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699475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img_available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 smtClean="0"/>
                        <a:t>ThreadingEvent</a:t>
                      </a:r>
                      <a:r>
                        <a:rPr lang="de-DE" sz="1400" dirty="0" smtClean="0"/>
                        <a:t>, wird getriggert sobald</a:t>
                      </a:r>
                      <a:r>
                        <a:rPr lang="de-DE" sz="1400" baseline="0" dirty="0" smtClean="0"/>
                        <a:t> das </a:t>
                      </a:r>
                      <a:r>
                        <a:rPr lang="de-DE" sz="1400" baseline="0" dirty="0" err="1" smtClean="0"/>
                        <a:t>Postprocessing</a:t>
                      </a:r>
                      <a:r>
                        <a:rPr lang="de-DE" sz="1400" baseline="0" dirty="0" smtClean="0"/>
                        <a:t> abgeschlossen ist. </a:t>
                      </a:r>
                      <a:r>
                        <a:rPr lang="de-DE" sz="1400" dirty="0" smtClean="0"/>
                        <a:t>Wird bei Initialisierung automatisch generiert.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863172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img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Das vom </a:t>
                      </a:r>
                      <a:r>
                        <a:rPr lang="de-DE" sz="1400" dirty="0" err="1" smtClean="0"/>
                        <a:t>Postprocessor</a:t>
                      </a:r>
                      <a:r>
                        <a:rPr lang="de-DE" sz="1400" dirty="0" smtClean="0"/>
                        <a:t> aus den Bytes in </a:t>
                      </a:r>
                      <a:r>
                        <a:rPr lang="de-DE" sz="1400" dirty="0" err="1" smtClean="0"/>
                        <a:t>PipeServer.data</a:t>
                      </a:r>
                      <a:r>
                        <a:rPr lang="de-DE" sz="1400" dirty="0" smtClean="0"/>
                        <a:t> generierte Bild als </a:t>
                      </a:r>
                      <a:r>
                        <a:rPr lang="de-DE" sz="1400" dirty="0" err="1" smtClean="0"/>
                        <a:t>Numpy</a:t>
                      </a:r>
                      <a:r>
                        <a:rPr lang="de-DE" sz="1400" dirty="0" smtClean="0"/>
                        <a:t> Array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315147"/>
                  </a:ext>
                </a:extLst>
              </a:tr>
              <a:tr h="683619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get_data_thread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EventControlledThread</a:t>
                      </a:r>
                      <a:r>
                        <a:rPr lang="de-DE" sz="1400" dirty="0" smtClean="0"/>
                        <a:t>, führt  _</a:t>
                      </a:r>
                      <a:r>
                        <a:rPr lang="de-DE" sz="1400" dirty="0" err="1" smtClean="0"/>
                        <a:t>postprocessing</a:t>
                      </a:r>
                      <a:r>
                        <a:rPr lang="de-DE" sz="1400" baseline="0" dirty="0" smtClean="0"/>
                        <a:t>() aus, sobald </a:t>
                      </a:r>
                      <a:r>
                        <a:rPr lang="de-DE" sz="1400" baseline="0" dirty="0" err="1" smtClean="0"/>
                        <a:t>event</a:t>
                      </a:r>
                      <a:r>
                        <a:rPr lang="de-DE" sz="1400" baseline="0" dirty="0" smtClean="0"/>
                        <a:t> getriggert wurde. </a:t>
                      </a:r>
                      <a:r>
                        <a:rPr lang="de-DE" sz="1400" dirty="0" smtClean="0"/>
                        <a:t>Wird bei Initialisierung automatisch generiert. 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10466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67949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postprocessing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Startet </a:t>
                      </a:r>
                      <a:r>
                        <a:rPr lang="de-DE" sz="1400" dirty="0" err="1" smtClean="0"/>
                        <a:t>self.get_data_thread</a:t>
                      </a:r>
                      <a:r>
                        <a:rPr lang="de-DE" sz="1400" dirty="0" smtClean="0"/>
                        <a:t> In diese</a:t>
                      </a:r>
                      <a:r>
                        <a:rPr lang="de-DE" sz="1400" baseline="0" dirty="0" smtClean="0"/>
                        <a:t> Variable werden die ausgelesenen Daten geschrieben.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650770"/>
                  </a:ext>
                </a:extLst>
              </a:tr>
              <a:tr h="683619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+_</a:t>
                      </a:r>
                      <a:r>
                        <a:rPr lang="de-DE" sz="1400" dirty="0" err="1" smtClean="0"/>
                        <a:t>postprocessing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Funktion,</a:t>
                      </a:r>
                      <a:r>
                        <a:rPr lang="de-DE" sz="1400" baseline="0" dirty="0" smtClean="0"/>
                        <a:t> die von </a:t>
                      </a:r>
                      <a:r>
                        <a:rPr lang="de-DE" sz="1400" dirty="0" err="1" smtClean="0"/>
                        <a:t>self.get_data_thread</a:t>
                      </a:r>
                      <a:r>
                        <a:rPr lang="de-DE" sz="1400" baseline="0" dirty="0" smtClean="0"/>
                        <a:t> ausgeführt werden soll. Ruft in diesem Fall </a:t>
                      </a:r>
                      <a:r>
                        <a:rPr lang="de-DE" sz="1400" baseline="0" dirty="0" err="1" smtClean="0"/>
                        <a:t>self</a:t>
                      </a:r>
                      <a:r>
                        <a:rPr lang="de-DE" sz="1400" baseline="0" dirty="0" smtClean="0"/>
                        <a:t>.</a:t>
                      </a:r>
                      <a:r>
                        <a:rPr lang="de-DE" sz="1400" dirty="0" smtClean="0"/>
                        <a:t> _</a:t>
                      </a:r>
                      <a:r>
                        <a:rPr lang="de-DE" sz="1400" dirty="0" err="1" smtClean="0"/>
                        <a:t>bytes_to_img</a:t>
                      </a:r>
                      <a:r>
                        <a:rPr lang="de-DE" sz="1400" dirty="0" smtClean="0"/>
                        <a:t>()</a:t>
                      </a:r>
                      <a:r>
                        <a:rPr lang="de-DE" sz="1400" baseline="0" dirty="0"/>
                        <a:t> </a:t>
                      </a:r>
                      <a:r>
                        <a:rPr lang="de-DE" sz="1400" baseline="0" dirty="0" smtClean="0"/>
                        <a:t>auf. Setzt am Ende das Event </a:t>
                      </a:r>
                      <a:r>
                        <a:rPr lang="de-DE" sz="1400" baseline="0" dirty="0" err="1" smtClean="0"/>
                        <a:t>self.</a:t>
                      </a:r>
                      <a:r>
                        <a:rPr lang="de-DE" sz="1400" dirty="0" err="1" smtClean="0"/>
                        <a:t>img_available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24435"/>
                  </a:ext>
                </a:extLst>
              </a:tr>
              <a:tr h="918647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+_</a:t>
                      </a:r>
                      <a:r>
                        <a:rPr lang="de-DE" sz="1400" dirty="0" err="1" smtClean="0"/>
                        <a:t>bytes_to_img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Wandelt den Byte-Stream aus der Pipe in ein Bild als </a:t>
                      </a:r>
                      <a:r>
                        <a:rPr lang="de-DE" sz="1400" dirty="0" err="1" smtClean="0"/>
                        <a:t>Numpy</a:t>
                      </a:r>
                      <a:r>
                        <a:rPr lang="de-DE" sz="1400" baseline="0" dirty="0" smtClean="0"/>
                        <a:t> Array um. 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35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89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rtl="0"/>
            <a:r>
              <a:rPr lang="de-DE" noProof="0" smtClean="0"/>
              <a:t>Fußzeile hinzufügen</a:t>
            </a:r>
            <a:endParaRPr lang="de-DE" noProof="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de-DE" noProof="0" smtClean="0"/>
              <a:t>6</a:t>
            </a:fld>
            <a:endParaRPr lang="de-DE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18678" y="196769"/>
            <a:ext cx="8333222" cy="708815"/>
          </a:xfrm>
        </p:spPr>
        <p:txBody>
          <a:bodyPr/>
          <a:lstStyle/>
          <a:p>
            <a:r>
              <a:rPr lang="de-DE" dirty="0" err="1" smtClean="0"/>
              <a:t>EventControlledThread</a:t>
            </a:r>
            <a:r>
              <a:rPr lang="de-DE" dirty="0" smtClean="0"/>
              <a:t>-Klasse</a:t>
            </a:r>
            <a:endParaRPr lang="de-DE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927927"/>
              </p:ext>
            </p:extLst>
          </p:nvPr>
        </p:nvGraphicFramePr>
        <p:xfrm>
          <a:off x="518678" y="1009687"/>
          <a:ext cx="6090466" cy="440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363">
                  <a:extLst>
                    <a:ext uri="{9D8B030D-6E8A-4147-A177-3AD203B41FA5}">
                      <a16:colId xmlns:a16="http://schemas.microsoft.com/office/drawing/2014/main" val="3684332184"/>
                    </a:ext>
                  </a:extLst>
                </a:gridCol>
                <a:gridCol w="4433103">
                  <a:extLst>
                    <a:ext uri="{9D8B030D-6E8A-4147-A177-3AD203B41FA5}">
                      <a16:colId xmlns:a16="http://schemas.microsoft.com/office/drawing/2014/main" val="47257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dirty="0" err="1" smtClean="0"/>
                        <a:t>TimedThread</a:t>
                      </a:r>
                      <a:endParaRPr lang="de-DE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58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instance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Soll innerhalb des Threads auf Attribute einer</a:t>
                      </a:r>
                      <a:r>
                        <a:rPr lang="de-DE" sz="1400" baseline="0" dirty="0" smtClean="0"/>
                        <a:t> Klasse zugegriffen werden, muss die gesamte Instanz der Klasse hier übergeben werden, sonst kann der Thread auf diesen Bereich des Speichers nicht zugreifen. Nur das Attribut zu übergeben genügt nicht!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5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-target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Funktion die</a:t>
                      </a:r>
                      <a:r>
                        <a:rPr lang="de-DE" sz="1400" baseline="0" dirty="0" smtClean="0"/>
                        <a:t> in dem Thread ausgeführt werden soll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6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-event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 smtClean="0"/>
                        <a:t>ThreadingEvent</a:t>
                      </a:r>
                      <a:r>
                        <a:rPr lang="de-DE" sz="1400" dirty="0" smtClean="0"/>
                        <a:t>,</a:t>
                      </a:r>
                      <a:r>
                        <a:rPr lang="de-DE" sz="1400" baseline="0" dirty="0" smtClean="0"/>
                        <a:t> wird dieses </a:t>
                      </a:r>
                      <a:r>
                        <a:rPr lang="de-DE" sz="1400" baseline="0" dirty="0" err="1" smtClean="0"/>
                        <a:t>getriggered</a:t>
                      </a:r>
                      <a:r>
                        <a:rPr lang="de-DE" sz="1400" baseline="0" dirty="0" smtClean="0"/>
                        <a:t> wird </a:t>
                      </a:r>
                      <a:r>
                        <a:rPr lang="de-DE" sz="1400" baseline="0" dirty="0" err="1" smtClean="0"/>
                        <a:t>self.target</a:t>
                      </a:r>
                      <a:r>
                        <a:rPr lang="de-DE" sz="1400" baseline="0" dirty="0" smtClean="0"/>
                        <a:t> ausgeführt.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410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-</a:t>
                      </a:r>
                      <a:r>
                        <a:rPr lang="de-DE" sz="1400" dirty="0" err="1" smtClean="0"/>
                        <a:t>result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Attribut in das Ausgabe von </a:t>
                      </a:r>
                      <a:r>
                        <a:rPr lang="de-DE" sz="1400" dirty="0" err="1" smtClean="0"/>
                        <a:t>target</a:t>
                      </a:r>
                      <a:r>
                        <a:rPr lang="de-DE" sz="1400" dirty="0" smtClean="0"/>
                        <a:t> geschrieben werden kann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18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18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run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Funktion die</a:t>
                      </a:r>
                      <a:r>
                        <a:rPr lang="de-DE" sz="1400" baseline="0" dirty="0" smtClean="0"/>
                        <a:t> ausgeführt wird, wenn </a:t>
                      </a:r>
                      <a:r>
                        <a:rPr lang="de-DE" sz="1400" baseline="0" dirty="0" err="1" smtClean="0"/>
                        <a:t>TimedThread.start</a:t>
                      </a:r>
                      <a:r>
                        <a:rPr lang="de-DE" sz="1400" baseline="0" dirty="0" smtClean="0"/>
                        <a:t>() gerufen wird. </a:t>
                      </a:r>
                      <a:r>
                        <a:rPr lang="de-DE" sz="1400" baseline="0" dirty="0" err="1" smtClean="0"/>
                        <a:t>run</a:t>
                      </a:r>
                      <a:r>
                        <a:rPr lang="de-DE" sz="1400" baseline="0" dirty="0" smtClean="0"/>
                        <a:t>() ruft seinerseits </a:t>
                      </a:r>
                      <a:r>
                        <a:rPr lang="de-DE" sz="1400" baseline="0" dirty="0" err="1" smtClean="0"/>
                        <a:t>target</a:t>
                      </a:r>
                      <a:r>
                        <a:rPr lang="de-DE" sz="1400" baseline="0" dirty="0" smtClean="0"/>
                        <a:t> auf und speichert eventuelle Rückgabewerte in </a:t>
                      </a:r>
                      <a:r>
                        <a:rPr lang="de-DE" sz="1400" baseline="0" dirty="0" err="1" smtClean="0"/>
                        <a:t>self.result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2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+</a:t>
                      </a:r>
                      <a:r>
                        <a:rPr lang="de-DE" sz="1400" dirty="0" err="1" smtClean="0"/>
                        <a:t>cancel</a:t>
                      </a:r>
                      <a:r>
                        <a:rPr lang="de-DE" sz="1400" dirty="0" smtClean="0"/>
                        <a:t>()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Beendet </a:t>
                      </a:r>
                      <a:r>
                        <a:rPr lang="de-DE" sz="1400" dirty="0" err="1" smtClean="0"/>
                        <a:t>reading</a:t>
                      </a:r>
                      <a:r>
                        <a:rPr lang="de-DE" sz="1400" baseline="0" dirty="0" err="1" smtClean="0"/>
                        <a:t>_thread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71420"/>
                  </a:ext>
                </a:extLst>
              </a:tr>
            </a:tbl>
          </a:graphicData>
        </a:graphic>
      </p:graphicFrame>
      <p:sp>
        <p:nvSpPr>
          <p:cNvPr id="9" name="Inhaltsplatzhalter 4"/>
          <p:cNvSpPr txBox="1">
            <a:spLocks/>
          </p:cNvSpPr>
          <p:nvPr/>
        </p:nvSpPr>
        <p:spPr>
          <a:xfrm>
            <a:off x="6789292" y="1009687"/>
            <a:ext cx="5097906" cy="571178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 smtClean="0"/>
              <a:t>Nutzung: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Erzeuge Instanz von </a:t>
            </a:r>
            <a:r>
              <a:rPr lang="de-DE" dirty="0" err="1" smtClean="0"/>
              <a:t>EventControlledThread</a:t>
            </a:r>
            <a:r>
              <a:rPr lang="de-DE" dirty="0" smtClean="0"/>
              <a:t> und übergebe </a:t>
            </a:r>
            <a:r>
              <a:rPr lang="de-DE" dirty="0" err="1" smtClean="0"/>
              <a:t>instance</a:t>
            </a:r>
            <a:r>
              <a:rPr lang="de-DE" dirty="0" smtClean="0"/>
              <a:t> (bspw. </a:t>
            </a:r>
            <a:r>
              <a:rPr lang="de-DE" dirty="0" err="1" smtClean="0"/>
              <a:t>PipeServer</a:t>
            </a:r>
            <a:r>
              <a:rPr lang="de-DE" dirty="0" smtClean="0"/>
              <a:t>), </a:t>
            </a:r>
            <a:r>
              <a:rPr lang="de-DE" dirty="0" err="1" smtClean="0"/>
              <a:t>target</a:t>
            </a:r>
            <a:r>
              <a:rPr lang="de-DE" dirty="0" smtClean="0"/>
              <a:t> (bspw. </a:t>
            </a:r>
            <a:r>
              <a:rPr lang="de-DE" dirty="0" err="1" smtClean="0"/>
              <a:t>PostProcessor</a:t>
            </a:r>
            <a:r>
              <a:rPr lang="de-DE" dirty="0" smtClean="0"/>
              <a:t>._</a:t>
            </a:r>
            <a:r>
              <a:rPr lang="de-DE" dirty="0" err="1" smtClean="0"/>
              <a:t>postprocessing</a:t>
            </a:r>
            <a:r>
              <a:rPr lang="de-DE" dirty="0" smtClean="0"/>
              <a:t>) und </a:t>
            </a:r>
            <a:r>
              <a:rPr lang="de-DE" dirty="0" err="1" smtClean="0"/>
              <a:t>event</a:t>
            </a:r>
            <a:r>
              <a:rPr lang="de-DE" dirty="0" smtClean="0"/>
              <a:t> (bspw. </a:t>
            </a:r>
            <a:r>
              <a:rPr lang="de-DE" dirty="0" err="1" smtClean="0"/>
              <a:t>PipeServer.data_available</a:t>
            </a:r>
            <a:r>
              <a:rPr lang="de-DE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Rufe </a:t>
            </a:r>
            <a:r>
              <a:rPr lang="de-DE" dirty="0" err="1" smtClean="0"/>
              <a:t>self.start</a:t>
            </a:r>
            <a:r>
              <a:rPr lang="de-DE" dirty="0" smtClean="0"/>
              <a:t>(), </a:t>
            </a:r>
            <a:r>
              <a:rPr lang="de-DE" dirty="0" err="1" smtClean="0"/>
              <a:t>target</a:t>
            </a:r>
            <a:r>
              <a:rPr lang="de-DE" dirty="0"/>
              <a:t> </a:t>
            </a:r>
            <a:r>
              <a:rPr lang="de-DE" dirty="0" smtClean="0"/>
              <a:t>wird nun in einem separaten Thread ausgeführt sobald </a:t>
            </a:r>
            <a:r>
              <a:rPr lang="de-DE" dirty="0" err="1" smtClean="0"/>
              <a:t>self.event</a:t>
            </a:r>
            <a:r>
              <a:rPr lang="de-DE" dirty="0" smtClean="0"/>
              <a:t> getriggert wurde.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653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6611344-9447-438E-873C-299AF4110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de-DE" dirty="0" smtClean="0"/>
              <a:t>Alexander </a:t>
            </a:r>
            <a:r>
              <a:rPr lang="de-DE" dirty="0" err="1" smtClean="0"/>
              <a:t>Rehmer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A3FB895-3D21-4707-8EDE-3F825906D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r>
              <a:rPr lang="de-DE" dirty="0"/>
              <a:t>+49 6123 / 60503-43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0B41C33-430D-4B31-A546-F856469194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de-DE" dirty="0" smtClean="0"/>
              <a:t>rehmer@heimannsensor.com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E62065D0-127B-4884-9760-D1FFEC38A6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r>
              <a:rPr lang="de-DE" dirty="0"/>
              <a:t>www. heimannsensor.com</a:t>
            </a:r>
          </a:p>
        </p:txBody>
      </p:sp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Design">
  <a:themeElements>
    <a:clrScheme name="Heimann">
      <a:dk1>
        <a:srgbClr val="1B1B1B"/>
      </a:dk1>
      <a:lt1>
        <a:srgbClr val="FFFFFF"/>
      </a:lt1>
      <a:dk2>
        <a:srgbClr val="4C4C4C"/>
      </a:dk2>
      <a:lt2>
        <a:srgbClr val="A5A5A5"/>
      </a:lt2>
      <a:accent1>
        <a:srgbClr val="000046"/>
      </a:accent1>
      <a:accent2>
        <a:srgbClr val="FF7F00"/>
      </a:accent2>
      <a:accent3>
        <a:srgbClr val="00AEEF"/>
      </a:accent3>
      <a:accent4>
        <a:srgbClr val="FF7F00"/>
      </a:accent4>
      <a:accent5>
        <a:srgbClr val="0000A5"/>
      </a:accent5>
      <a:accent6>
        <a:srgbClr val="960000"/>
      </a:accent6>
      <a:hlink>
        <a:srgbClr val="FF7F00"/>
      </a:hlink>
      <a:folHlink>
        <a:srgbClr val="96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89_TF00951641.potx" id="{11057525-901F-4F80-BB0F-D0AC5961D089}" vid="{CA6B83B1-7A0D-45CA-ABC2-321A1564D01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4D15D6-87BC-477C-8E91-9F90829C2FC8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6dc4bcd6-49db-4c07-9060-8acfc67cef9f"/>
    <ds:schemaRef ds:uri="http://schemas.openxmlformats.org/package/2006/metadata/core-properties"/>
    <ds:schemaRef ds:uri="fb0879af-3eba-417a-a55a-ffe6dcd6ca77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19A80A7-0DD1-4CF4-ABD5-362A6549C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9AA90D-A39D-4F83-B1BD-92099B1CAD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Helle Präsentation mit Sechseck</Template>
  <TotalTime>0</TotalTime>
  <Words>797</Words>
  <Application>Microsoft Office PowerPoint</Application>
  <PresentationFormat>Breitbild</PresentationFormat>
  <Paragraphs>104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CiscoSans ExtraLight</vt:lpstr>
      <vt:lpstr>Gill Sans SemiBold</vt:lpstr>
      <vt:lpstr>Times New Roman</vt:lpstr>
      <vt:lpstr>Office-Design</vt:lpstr>
      <vt:lpstr>Dokumentation</vt:lpstr>
      <vt:lpstr>Klassen - Übersicht</vt:lpstr>
      <vt:lpstr>PipeServer-Klasse</vt:lpstr>
      <vt:lpstr>TimedThread-Klasse</vt:lpstr>
      <vt:lpstr>PostProcessor-Klasse</vt:lpstr>
      <vt:lpstr>EventControlledThread-Klasse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2023-01-19T12:10:34Z</dcterms:created>
  <dcterms:modified xsi:type="dcterms:W3CDTF">2023-03-15T16:22:11Z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